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70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D7D"/>
    <a:srgbClr val="E1A2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9" autoAdjust="0"/>
    <p:restoredTop sz="94660"/>
  </p:normalViewPr>
  <p:slideViewPr>
    <p:cSldViewPr snapToGrid="0">
      <p:cViewPr>
        <p:scale>
          <a:sx n="50" d="100"/>
          <a:sy n="50" d="100"/>
        </p:scale>
        <p:origin x="0" y="6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ED7A0-508C-42DE-B7A9-52DA1C7DA46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7E9A2-C5CC-417F-98F0-C1A9EF67F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7958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ED7A0-508C-42DE-B7A9-52DA1C7DA46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7E9A2-C5CC-417F-98F0-C1A9EF67F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8569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ED7A0-508C-42DE-B7A9-52DA1C7DA46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7E9A2-C5CC-417F-98F0-C1A9EF67F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80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ED7A0-508C-42DE-B7A9-52DA1C7DA46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7E9A2-C5CC-417F-98F0-C1A9EF67F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1666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ED7A0-508C-42DE-B7A9-52DA1C7DA46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7E9A2-C5CC-417F-98F0-C1A9EF67F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7777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ED7A0-508C-42DE-B7A9-52DA1C7DA46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7E9A2-C5CC-417F-98F0-C1A9EF67F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520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ED7A0-508C-42DE-B7A9-52DA1C7DA46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7E9A2-C5CC-417F-98F0-C1A9EF67F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077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ED7A0-508C-42DE-B7A9-52DA1C7DA46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7E9A2-C5CC-417F-98F0-C1A9EF67F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359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ED7A0-508C-42DE-B7A9-52DA1C7DA46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7E9A2-C5CC-417F-98F0-C1A9EF67F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1344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ED7A0-508C-42DE-B7A9-52DA1C7DA46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7E9A2-C5CC-417F-98F0-C1A9EF67F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8686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ED7A0-508C-42DE-B7A9-52DA1C7DA46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7E9A2-C5CC-417F-98F0-C1A9EF67F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6190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ED7A0-508C-42DE-B7A9-52DA1C7DA46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7E9A2-C5CC-417F-98F0-C1A9EF67F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2774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30531" y="856356"/>
            <a:ext cx="9930938" cy="2387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Адаптивная платформа </a:t>
            </a:r>
            <a:r>
              <a:rPr lang="ru-RU" dirty="0" err="1" smtClean="0"/>
              <a:t>медиаконтента</a:t>
            </a:r>
            <a:r>
              <a:rPr lang="ru-RU" dirty="0" smtClean="0"/>
              <a:t> с динамической сменой </a:t>
            </a:r>
            <a:r>
              <a:rPr lang="ru-RU" dirty="0" err="1" smtClean="0"/>
              <a:t>храилища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76349" y="3672379"/>
            <a:ext cx="11039301" cy="836958"/>
          </a:xfrm>
        </p:spPr>
        <p:txBody>
          <a:bodyPr>
            <a:noAutofit/>
          </a:bodyPr>
          <a:lstStyle/>
          <a:p>
            <a:r>
              <a:rPr lang="ru-RU" sz="3200" dirty="0"/>
              <a:t>Курсовой проект по курсу "Прикладная разработка на </a:t>
            </a:r>
            <a:r>
              <a:rPr lang="ru-RU" sz="3200" dirty="0" err="1"/>
              <a:t>Java</a:t>
            </a:r>
            <a:r>
              <a:rPr lang="ru-RU" sz="3200" dirty="0" smtClean="0"/>
              <a:t>"</a:t>
            </a:r>
            <a:endParaRPr lang="ru-R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747462" y="5473005"/>
            <a:ext cx="44445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Проверил: Метелкин А. С.</a:t>
            </a:r>
            <a:endParaRPr lang="ru-RU" sz="2800" dirty="0" smtClean="0"/>
          </a:p>
          <a:p>
            <a:r>
              <a:rPr lang="ru-RU" sz="2800" dirty="0" smtClean="0"/>
              <a:t>Выполнил: Медведев С. В. </a:t>
            </a:r>
          </a:p>
          <a:p>
            <a:pPr algn="ctr"/>
            <a:r>
              <a:rPr lang="ru-RU" sz="2800" dirty="0" smtClean="0"/>
              <a:t>Гр. ИС-123</a:t>
            </a:r>
          </a:p>
        </p:txBody>
      </p:sp>
    </p:spTree>
    <p:extLst>
      <p:ext uri="{BB962C8B-B14F-4D97-AF65-F5344CB8AC3E}">
        <p14:creationId xmlns:p14="http://schemas.microsoft.com/office/powerpoint/2010/main" val="2406354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9807" y="148996"/>
            <a:ext cx="10515600" cy="981536"/>
          </a:xfrm>
        </p:spPr>
        <p:txBody>
          <a:bodyPr>
            <a:normAutofit/>
          </a:bodyPr>
          <a:lstStyle/>
          <a:p>
            <a:r>
              <a:rPr lang="ru-RU" b="1" dirty="0"/>
              <a:t>Цель и задачи </a:t>
            </a:r>
            <a:r>
              <a:rPr lang="ru-RU" b="1" dirty="0" smtClean="0"/>
              <a:t>проекта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89808" y="1324929"/>
            <a:ext cx="9768839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🎯 Цель</a:t>
            </a:r>
            <a:r>
              <a:rPr lang="ru-RU" sz="2800" b="1" dirty="0" smtClean="0"/>
              <a:t>: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/>
              <a:t>Спроектировать и разработать многофункциональное веб-приложение для управления каталогом фильмов и сериалов с возможностью воспроизведения видео через встроенный HTML5-плеер и поддержкой двух независимых механизмов хранения данных (СУБД и JSON-файлы</a:t>
            </a:r>
            <a:r>
              <a:rPr lang="ru-RU" sz="2400" dirty="0" smtClean="0"/>
              <a:t>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89807" y="3519874"/>
            <a:ext cx="9768840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📋 Основные задачи:</a:t>
            </a:r>
          </a:p>
          <a:p>
            <a:pPr>
              <a:buFont typeface="Calibri" panose="020F0502020204030204" pitchFamily="34" charset="0"/>
              <a:buChar char="-"/>
            </a:pPr>
            <a:r>
              <a:rPr lang="ru-RU" sz="2400" dirty="0"/>
              <a:t>Проектирование структуры реляционной БД для 8 типов сущностей</a:t>
            </a:r>
          </a:p>
          <a:p>
            <a:pPr>
              <a:buFont typeface="Calibri" panose="020F0502020204030204" pitchFamily="34" charset="0"/>
              <a:buChar char="-"/>
            </a:pPr>
            <a:r>
              <a:rPr lang="ru-RU" sz="2400" dirty="0"/>
              <a:t>Реализация серверной части с использованием паттернов </a:t>
            </a:r>
            <a:r>
              <a:rPr lang="ru-RU" sz="2400" dirty="0" err="1"/>
              <a:t>Port-Adapter</a:t>
            </a:r>
            <a:r>
              <a:rPr lang="ru-RU" sz="2400" dirty="0"/>
              <a:t>, </a:t>
            </a:r>
            <a:r>
              <a:rPr lang="ru-RU" sz="2400" dirty="0" err="1"/>
              <a:t>Strategy</a:t>
            </a:r>
            <a:r>
              <a:rPr lang="ru-RU" sz="2400" dirty="0"/>
              <a:t>, </a:t>
            </a:r>
            <a:r>
              <a:rPr lang="ru-RU" sz="2400" dirty="0" err="1"/>
              <a:t>Observer</a:t>
            </a:r>
            <a:endParaRPr lang="ru-RU" sz="2400" dirty="0"/>
          </a:p>
          <a:p>
            <a:pPr>
              <a:buFont typeface="Calibri" panose="020F0502020204030204" pitchFamily="34" charset="0"/>
              <a:buChar char="-"/>
            </a:pPr>
            <a:r>
              <a:rPr lang="ru-RU" sz="2400" dirty="0"/>
              <a:t>Создание пользовательского интерфейса на </a:t>
            </a:r>
            <a:r>
              <a:rPr lang="ru-RU" sz="2400" dirty="0" err="1"/>
              <a:t>Thymeleaf</a:t>
            </a:r>
            <a:endParaRPr lang="ru-RU" sz="2400" dirty="0"/>
          </a:p>
          <a:p>
            <a:pPr>
              <a:buFont typeface="Calibri" panose="020F0502020204030204" pitchFamily="34" charset="0"/>
              <a:buChar char="-"/>
            </a:pPr>
            <a:r>
              <a:rPr lang="ru-RU" sz="2400" dirty="0"/>
              <a:t>Реализация системы ролей и безопасности</a:t>
            </a:r>
          </a:p>
          <a:p>
            <a:pPr>
              <a:buFont typeface="Calibri" panose="020F0502020204030204" pitchFamily="34" charset="0"/>
              <a:buChar char="-"/>
            </a:pPr>
            <a:r>
              <a:rPr lang="ru-RU" sz="2400" dirty="0"/>
              <a:t>Тестирование и отладка разработанного сервиса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95003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305" y="116378"/>
            <a:ext cx="10515600" cy="831273"/>
          </a:xfrm>
        </p:spPr>
        <p:txBody>
          <a:bodyPr>
            <a:normAutofit/>
          </a:bodyPr>
          <a:lstStyle/>
          <a:p>
            <a:r>
              <a:rPr lang="ru-RU" b="1" dirty="0"/>
              <a:t>Актуальность и ключевое </a:t>
            </a:r>
            <a:r>
              <a:rPr lang="ru-RU" b="1" dirty="0" smtClean="0"/>
              <a:t>решение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-1" y="1551800"/>
            <a:ext cx="6086476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⚠ </a:t>
            </a:r>
            <a:r>
              <a:rPr lang="ru-RU" sz="2800" b="1" dirty="0"/>
              <a:t>Вызовы </a:t>
            </a:r>
            <a:r>
              <a:rPr lang="ru-RU" sz="2800" b="1" dirty="0" smtClean="0"/>
              <a:t>рынка</a:t>
            </a:r>
          </a:p>
          <a:p>
            <a:endParaRPr lang="ru-RU" b="1" dirty="0" smtClean="0"/>
          </a:p>
          <a:p>
            <a:r>
              <a:rPr lang="ru-RU" sz="2600" b="1" dirty="0" smtClean="0"/>
              <a:t>Экспоненциальный </a:t>
            </a:r>
            <a:r>
              <a:rPr lang="ru-RU" sz="2600" b="1" dirty="0"/>
              <a:t>рост </a:t>
            </a:r>
            <a:r>
              <a:rPr lang="ru-RU" sz="2600" b="1" dirty="0" smtClean="0"/>
              <a:t>контента</a:t>
            </a:r>
          </a:p>
          <a:p>
            <a:r>
              <a:rPr lang="ru-RU" sz="2600" dirty="0" smtClean="0"/>
              <a:t>К </a:t>
            </a:r>
            <a:r>
              <a:rPr lang="ru-RU" sz="2600" dirty="0"/>
              <a:t>2026 году видео составит &gt;82% трафика. Стандартные файловые менеджеры не справляются с каталогизацией сотен единиц контента</a:t>
            </a:r>
            <a:r>
              <a:rPr lang="ru-RU" sz="2600" dirty="0" smtClean="0"/>
              <a:t>.</a:t>
            </a:r>
          </a:p>
          <a:p>
            <a:endParaRPr lang="ru-RU" sz="2600" dirty="0"/>
          </a:p>
          <a:p>
            <a:r>
              <a:rPr lang="ru-RU" sz="2600" b="1" dirty="0"/>
              <a:t>Риски цифрового </a:t>
            </a:r>
            <a:r>
              <a:rPr lang="ru-RU" sz="2600" b="1" dirty="0" smtClean="0"/>
              <a:t>суверенитета</a:t>
            </a:r>
          </a:p>
          <a:p>
            <a:r>
              <a:rPr lang="ru-RU" sz="2600" dirty="0" err="1" smtClean="0"/>
              <a:t>Plex</a:t>
            </a:r>
            <a:r>
              <a:rPr lang="ru-RU" sz="2600" dirty="0" smtClean="0"/>
              <a:t> </a:t>
            </a:r>
            <a:r>
              <a:rPr lang="ru-RU" sz="2600" dirty="0"/>
              <a:t>и </a:t>
            </a:r>
            <a:r>
              <a:rPr lang="ru-RU" sz="2600" dirty="0" err="1"/>
              <a:t>Emby</a:t>
            </a:r>
            <a:r>
              <a:rPr lang="ru-RU" sz="2600" dirty="0"/>
              <a:t> — </a:t>
            </a:r>
            <a:r>
              <a:rPr lang="ru-RU" sz="2600" dirty="0" err="1"/>
              <a:t>проприетарные</a:t>
            </a:r>
            <a:r>
              <a:rPr lang="ru-RU" sz="2600" dirty="0"/>
              <a:t> решения с хранением метаданных на зарубежных серверах, что создает риски конфиденциальности</a:t>
            </a:r>
            <a:r>
              <a:rPr lang="ru-RU" sz="2600" dirty="0" smtClean="0"/>
              <a:t>.</a:t>
            </a:r>
            <a:endParaRPr lang="ru-RU" sz="2600" dirty="0"/>
          </a:p>
        </p:txBody>
      </p:sp>
      <p:sp>
        <p:nvSpPr>
          <p:cNvPr id="5" name="TextBox 4"/>
          <p:cNvSpPr txBox="1"/>
          <p:nvPr/>
        </p:nvSpPr>
        <p:spPr>
          <a:xfrm>
            <a:off x="6086475" y="1551800"/>
            <a:ext cx="610552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💡 Решение </a:t>
            </a:r>
            <a:r>
              <a:rPr lang="ru-RU" sz="2800" b="1" dirty="0" smtClean="0"/>
              <a:t>разработанного продукта</a:t>
            </a:r>
          </a:p>
          <a:p>
            <a:endParaRPr lang="ru-RU" sz="2400" b="1" dirty="0" smtClean="0"/>
          </a:p>
          <a:p>
            <a:r>
              <a:rPr lang="ru-RU" sz="2600" b="1" dirty="0"/>
              <a:t>Гексагональная </a:t>
            </a:r>
            <a:r>
              <a:rPr lang="ru-RU" sz="2600" b="1" dirty="0" smtClean="0"/>
              <a:t>архитектура</a:t>
            </a:r>
          </a:p>
          <a:p>
            <a:r>
              <a:rPr lang="ru-RU" sz="2600" dirty="0" smtClean="0"/>
              <a:t>Принцип </a:t>
            </a:r>
            <a:r>
              <a:rPr lang="ru-RU" sz="2600" dirty="0" err="1"/>
              <a:t>Ports</a:t>
            </a:r>
            <a:r>
              <a:rPr lang="ru-RU" sz="2600" dirty="0"/>
              <a:t> &amp; </a:t>
            </a:r>
            <a:r>
              <a:rPr lang="ru-RU" sz="2600" dirty="0" err="1"/>
              <a:t>Adapters</a:t>
            </a:r>
            <a:r>
              <a:rPr lang="ru-RU" sz="2600" dirty="0"/>
              <a:t> (А. </a:t>
            </a:r>
            <a:r>
              <a:rPr lang="ru-RU" sz="2600" dirty="0" err="1"/>
              <a:t>Коуборн</a:t>
            </a:r>
            <a:r>
              <a:rPr lang="ru-RU" sz="2600" dirty="0"/>
              <a:t>) обеспечивает полную изоляцию бизнес-логики от деталей хранения данных</a:t>
            </a:r>
            <a:r>
              <a:rPr lang="ru-RU" sz="2600" dirty="0" smtClean="0"/>
              <a:t>.</a:t>
            </a:r>
          </a:p>
          <a:p>
            <a:endParaRPr lang="ru-RU" sz="2600" dirty="0" smtClean="0"/>
          </a:p>
          <a:p>
            <a:r>
              <a:rPr lang="ru-RU" sz="2600" b="1" dirty="0"/>
              <a:t>Динамическая смена </a:t>
            </a:r>
            <a:r>
              <a:rPr lang="ru-RU" sz="2600" b="1" dirty="0" smtClean="0"/>
              <a:t>хранилища</a:t>
            </a:r>
          </a:p>
          <a:p>
            <a:r>
              <a:rPr lang="ru-RU" sz="2600" dirty="0" smtClean="0"/>
              <a:t>Мгновенное </a:t>
            </a:r>
            <a:r>
              <a:rPr lang="ru-RU" sz="2600" dirty="0"/>
              <a:t>переключение между </a:t>
            </a:r>
            <a:r>
              <a:rPr lang="ru-RU" sz="2600" dirty="0" err="1"/>
              <a:t>Firebird</a:t>
            </a:r>
            <a:r>
              <a:rPr lang="ru-RU" sz="2600" dirty="0"/>
              <a:t> SQL и JSON "на лету" в рамках пользовательской сессии без перезапуска приложения</a:t>
            </a:r>
            <a:r>
              <a:rPr lang="ru-RU" sz="2600" dirty="0" smtClean="0"/>
              <a:t>.</a:t>
            </a: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2964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3182" y="198871"/>
            <a:ext cx="11697392" cy="848534"/>
          </a:xfrm>
        </p:spPr>
        <p:txBody>
          <a:bodyPr>
            <a:normAutofit/>
          </a:bodyPr>
          <a:lstStyle/>
          <a:p>
            <a:r>
              <a:rPr lang="ru-RU" b="1" dirty="0"/>
              <a:t>Сравнительный анализ </a:t>
            </a:r>
            <a:r>
              <a:rPr lang="ru-RU" b="1" dirty="0" smtClean="0"/>
              <a:t>решений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999221"/>
              </p:ext>
            </p:extLst>
          </p:nvPr>
        </p:nvGraphicFramePr>
        <p:xfrm>
          <a:off x="173179" y="1047405"/>
          <a:ext cx="11697395" cy="5503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9479">
                  <a:extLst>
                    <a:ext uri="{9D8B030D-6E8A-4147-A177-3AD203B41FA5}">
                      <a16:colId xmlns:a16="http://schemas.microsoft.com/office/drawing/2014/main" val="3427653058"/>
                    </a:ext>
                  </a:extLst>
                </a:gridCol>
                <a:gridCol w="2391851">
                  <a:extLst>
                    <a:ext uri="{9D8B030D-6E8A-4147-A177-3AD203B41FA5}">
                      <a16:colId xmlns:a16="http://schemas.microsoft.com/office/drawing/2014/main" val="2096680678"/>
                    </a:ext>
                  </a:extLst>
                </a:gridCol>
                <a:gridCol w="2287107">
                  <a:extLst>
                    <a:ext uri="{9D8B030D-6E8A-4147-A177-3AD203B41FA5}">
                      <a16:colId xmlns:a16="http://schemas.microsoft.com/office/drawing/2014/main" val="1028701664"/>
                    </a:ext>
                  </a:extLst>
                </a:gridCol>
                <a:gridCol w="2135264">
                  <a:extLst>
                    <a:ext uri="{9D8B030D-6E8A-4147-A177-3AD203B41FA5}">
                      <a16:colId xmlns:a16="http://schemas.microsoft.com/office/drawing/2014/main" val="2344277974"/>
                    </a:ext>
                  </a:extLst>
                </a:gridCol>
                <a:gridCol w="2543694">
                  <a:extLst>
                    <a:ext uri="{9D8B030D-6E8A-4147-A177-3AD203B41FA5}">
                      <a16:colId xmlns:a16="http://schemas.microsoft.com/office/drawing/2014/main" val="3049564450"/>
                    </a:ext>
                  </a:extLst>
                </a:gridCol>
              </a:tblGrid>
              <a:tr h="917171">
                <a:tc>
                  <a:txBody>
                    <a:bodyPr/>
                    <a:lstStyle/>
                    <a:p>
                      <a:r>
                        <a:rPr lang="ru-RU" sz="26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Критерий сравнения</a:t>
                      </a:r>
                      <a:endParaRPr lang="ru-RU" sz="2600" dirty="0"/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Plex</a:t>
                      </a:r>
                      <a:endParaRPr lang="ru-RU" sz="2600" dirty="0"/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Jellyfin</a:t>
                      </a:r>
                      <a:endParaRPr lang="ru-RU" sz="2600" dirty="0"/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Emby</a:t>
                      </a:r>
                      <a:endParaRPr lang="ru-RU" sz="2600" dirty="0"/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CinemaHome</a:t>
                      </a:r>
                      <a:endParaRPr lang="ru-RU" sz="26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810879"/>
                  </a:ext>
                </a:extLst>
              </a:tr>
              <a:tr h="917171">
                <a:tc>
                  <a:txBody>
                    <a:bodyPr/>
                    <a:lstStyle/>
                    <a:p>
                      <a:r>
                        <a:rPr lang="ru-RU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Хранение данных</a:t>
                      </a:r>
                      <a:endParaRPr lang="ru-RU" sz="2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Проприетарная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БД</a:t>
                      </a:r>
                      <a:endParaRPr lang="ru-RU" sz="2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SQLite</a:t>
                      </a:r>
                      <a:endParaRPr lang="ru-RU" sz="2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SQLite</a:t>
                      </a:r>
                      <a:endParaRPr lang="ru-RU" sz="2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Firebird / JSON</a:t>
                      </a:r>
                      <a:endParaRPr lang="ru-RU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337481"/>
                  </a:ext>
                </a:extLst>
              </a:tr>
              <a:tr h="917171">
                <a:tc>
                  <a:txBody>
                    <a:bodyPr/>
                    <a:lstStyle/>
                    <a:p>
                      <a:r>
                        <a:rPr lang="ru-RU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Исходный код</a:t>
                      </a:r>
                      <a:endParaRPr lang="ru-RU" sz="2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 Закрытый</a:t>
                      </a:r>
                      <a:endParaRPr lang="ru-RU" sz="2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Открытый (</a:t>
                      </a:r>
                      <a:r>
                        <a:rPr lang="en-US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GPL)</a:t>
                      </a:r>
                      <a:endParaRPr lang="ru-RU" sz="2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 Закрытый</a:t>
                      </a:r>
                      <a:endParaRPr lang="ru-RU" sz="2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Открытый</a:t>
                      </a:r>
                      <a:endParaRPr lang="ru-RU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15839"/>
                  </a:ext>
                </a:extLst>
              </a:tr>
              <a:tr h="917171">
                <a:tc>
                  <a:txBody>
                    <a:bodyPr/>
                    <a:lstStyle/>
                    <a:p>
                      <a:r>
                        <a:rPr lang="ru-RU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Динамическая смена БД</a:t>
                      </a:r>
                      <a:endParaRPr lang="ru-RU" sz="2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 Нет</a:t>
                      </a:r>
                      <a:endParaRPr lang="ru-RU" sz="2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 Нет</a:t>
                      </a:r>
                      <a:endParaRPr lang="ru-RU" sz="2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 Нет</a:t>
                      </a:r>
                      <a:endParaRPr lang="ru-RU" sz="2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Реализована</a:t>
                      </a:r>
                      <a:endParaRPr lang="ru-RU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93732"/>
                  </a:ext>
                </a:extLst>
              </a:tr>
              <a:tr h="917171">
                <a:tc>
                  <a:txBody>
                    <a:bodyPr/>
                    <a:lstStyle/>
                    <a:p>
                      <a:r>
                        <a:rPr lang="ru-RU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Ролевая модель</a:t>
                      </a:r>
                      <a:endParaRPr lang="ru-RU" sz="2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роли</a:t>
                      </a:r>
                      <a:endParaRPr lang="ru-RU" sz="2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роли</a:t>
                      </a:r>
                      <a:endParaRPr lang="ru-RU" sz="2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роли</a:t>
                      </a:r>
                      <a:endParaRPr lang="ru-RU" sz="2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роли</a:t>
                      </a:r>
                      <a:endParaRPr lang="ru-RU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530494"/>
                  </a:ext>
                </a:extLst>
              </a:tr>
              <a:tr h="917171">
                <a:tc>
                  <a:txBody>
                    <a:bodyPr/>
                    <a:lstStyle/>
                    <a:p>
                      <a:r>
                        <a:rPr lang="ru-RU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Стоимость</a:t>
                      </a:r>
                      <a:endParaRPr lang="ru-RU" sz="2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Freemium</a:t>
                      </a:r>
                      <a:endParaRPr lang="ru-RU" sz="2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Бесплатно</a:t>
                      </a:r>
                      <a:endParaRPr lang="ru-RU" sz="2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Freemium</a:t>
                      </a:r>
                      <a:endParaRPr lang="ru-RU" sz="2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Бесплатно</a:t>
                      </a:r>
                      <a:endParaRPr lang="ru-RU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350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993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49629"/>
            <a:ext cx="12192000" cy="831907"/>
          </a:xfrm>
        </p:spPr>
        <p:txBody>
          <a:bodyPr>
            <a:normAutofit/>
          </a:bodyPr>
          <a:lstStyle/>
          <a:p>
            <a:r>
              <a:rPr lang="ru-RU" b="1" dirty="0"/>
              <a:t>Технологический </a:t>
            </a:r>
            <a:r>
              <a:rPr lang="ru-RU" b="1" dirty="0" smtClean="0"/>
              <a:t>стек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83572" y="1134567"/>
            <a:ext cx="11824855" cy="881150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3571" y="2491239"/>
            <a:ext cx="11824855" cy="881150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183571" y="5204583"/>
            <a:ext cx="11824855" cy="88115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183571" y="3847911"/>
            <a:ext cx="11824855" cy="88115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83571" y="1282754"/>
            <a:ext cx="46544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i="0" dirty="0" smtClean="0">
                <a:solidFill>
                  <a:srgbClr val="FFFFFF"/>
                </a:solidFill>
                <a:effectLst/>
                <a:latin typeface="Times New Roman" panose="02020603050405020304" pitchFamily="18" charset="0"/>
              </a:rPr>
              <a:t>Backend &amp; Core</a:t>
            </a:r>
            <a:endParaRPr lang="ru-RU" sz="32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83571" y="2639426"/>
            <a:ext cx="46544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i="0" dirty="0" smtClean="0">
                <a:solidFill>
                  <a:srgbClr val="FFFFFF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ru-RU" sz="3200" b="1" i="0" dirty="0" smtClean="0">
                <a:solidFill>
                  <a:srgbClr val="FFFFFF"/>
                </a:solidFill>
                <a:effectLst/>
                <a:latin typeface="Times New Roman" panose="02020603050405020304" pitchFamily="18" charset="0"/>
              </a:rPr>
              <a:t>Уровень данных (</a:t>
            </a:r>
            <a:r>
              <a:rPr lang="en-US" sz="3200" b="1" i="0" dirty="0" smtClean="0">
                <a:solidFill>
                  <a:srgbClr val="FFFFFF"/>
                </a:solidFill>
                <a:effectLst/>
                <a:latin typeface="Times New Roman" panose="02020603050405020304" pitchFamily="18" charset="0"/>
              </a:rPr>
              <a:t>Dual)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83571" y="3996098"/>
            <a:ext cx="46544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i="0" dirty="0" smtClean="0">
                <a:solidFill>
                  <a:srgbClr val="FFFFFF"/>
                </a:solidFill>
                <a:effectLst/>
                <a:latin typeface="Times New Roman" panose="02020603050405020304" pitchFamily="18" charset="0"/>
              </a:rPr>
              <a:t>Frontend &amp; UI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183571" y="5352770"/>
            <a:ext cx="46544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i="0" dirty="0" smtClean="0">
                <a:effectLst/>
                <a:latin typeface="Times New Roman" panose="02020603050405020304" pitchFamily="18" charset="0"/>
              </a:rPr>
              <a:t>Quality Assurance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4838007" y="1375086"/>
            <a:ext cx="69993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4388" lvl="2"/>
            <a:r>
              <a:rPr lang="en-US" sz="2000" b="1" i="0" dirty="0" smtClean="0">
                <a:solidFill>
                  <a:srgbClr val="FFFFFF"/>
                </a:solidFill>
                <a:effectLst/>
                <a:latin typeface="Times New Roman" panose="02020603050405020304" pitchFamily="18" charset="0"/>
              </a:rPr>
              <a:t>Java 21 (LTS), Spring Boot 3.4.0, Spring Security 6.x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4838006" y="2577871"/>
            <a:ext cx="55196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4388" lvl="6"/>
            <a:r>
              <a:rPr lang="en-US" sz="2000" b="1" i="0" dirty="0" smtClean="0">
                <a:solidFill>
                  <a:srgbClr val="FFFFFF"/>
                </a:solidFill>
                <a:effectLst/>
                <a:latin typeface="Times New Roman" panose="02020603050405020304" pitchFamily="18" charset="0"/>
              </a:rPr>
              <a:t>Firebird SQL 3.0+ (</a:t>
            </a:r>
            <a:r>
              <a:rPr lang="ru-RU" sz="2000" b="1" i="0" dirty="0" smtClean="0">
                <a:solidFill>
                  <a:srgbClr val="FFFFFF"/>
                </a:solidFill>
                <a:effectLst/>
                <a:latin typeface="Times New Roman" panose="02020603050405020304" pitchFamily="18" charset="0"/>
              </a:rPr>
              <a:t>через </a:t>
            </a:r>
            <a:r>
              <a:rPr lang="en-US" sz="2000" b="1" i="0" dirty="0" smtClean="0">
                <a:solidFill>
                  <a:srgbClr val="FFFFFF"/>
                </a:solidFill>
                <a:effectLst/>
                <a:latin typeface="Times New Roman" panose="02020603050405020304" pitchFamily="18" charset="0"/>
              </a:rPr>
              <a:t>Hibernate 6.6) / JSON (Jackson </a:t>
            </a:r>
            <a:r>
              <a:rPr lang="en-US" sz="2000" b="1" i="0" dirty="0" err="1" smtClean="0">
                <a:solidFill>
                  <a:srgbClr val="FFFFFF"/>
                </a:solidFill>
                <a:effectLst/>
                <a:latin typeface="Times New Roman" panose="02020603050405020304" pitchFamily="18" charset="0"/>
              </a:rPr>
              <a:t>Databind</a:t>
            </a:r>
            <a:r>
              <a:rPr lang="en-US" sz="2000" b="1" i="0" dirty="0" smtClean="0">
                <a:solidFill>
                  <a:srgbClr val="FFFFFF"/>
                </a:solidFill>
                <a:effectLst/>
                <a:latin typeface="Times New Roman" panose="02020603050405020304" pitchFamily="18" charset="0"/>
              </a:rPr>
              <a:t> 2.17)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4838004" y="4083461"/>
            <a:ext cx="69993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4388" lvl="2"/>
            <a:r>
              <a:rPr lang="en-US" sz="2000" b="1" i="0" dirty="0" err="1" smtClean="0">
                <a:solidFill>
                  <a:srgbClr val="FFFFFF"/>
                </a:solidFill>
                <a:effectLst/>
                <a:latin typeface="Times New Roman" panose="02020603050405020304" pitchFamily="18" charset="0"/>
              </a:rPr>
              <a:t>Thymeleaf</a:t>
            </a:r>
            <a:r>
              <a:rPr lang="en-US" sz="2000" b="1" i="0" dirty="0" smtClean="0">
                <a:solidFill>
                  <a:srgbClr val="FFFFFF"/>
                </a:solidFill>
                <a:effectLst/>
                <a:latin typeface="Times New Roman" panose="02020603050405020304" pitchFamily="18" charset="0"/>
              </a:rPr>
              <a:t> 3.1+, HTML5 Video API, CSS Grid, 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4838007" y="5445102"/>
            <a:ext cx="61754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3275" lvl="5"/>
            <a:r>
              <a:rPr lang="en-US" sz="2000" b="1" i="0" dirty="0" smtClean="0">
                <a:effectLst/>
                <a:latin typeface="Times New Roman" panose="02020603050405020304" pitchFamily="18" charset="0"/>
              </a:rPr>
              <a:t>JUnit 5, </a:t>
            </a:r>
            <a:r>
              <a:rPr lang="en-US" sz="2000" b="1" i="0" dirty="0" err="1" smtClean="0">
                <a:effectLst/>
                <a:latin typeface="Times New Roman" panose="02020603050405020304" pitchFamily="18" charset="0"/>
              </a:rPr>
              <a:t>Mockito</a:t>
            </a:r>
            <a:r>
              <a:rPr lang="en-US" sz="2000" b="1" i="0" dirty="0" smtClean="0">
                <a:effectLst/>
                <a:latin typeface="Times New Roman" panose="02020603050405020304" pitchFamily="18" charset="0"/>
              </a:rPr>
              <a:t> 5.x, </a:t>
            </a:r>
            <a:r>
              <a:rPr lang="en-US" sz="2000" b="1" i="0" dirty="0" err="1" smtClean="0">
                <a:effectLst/>
                <a:latin typeface="Times New Roman" panose="02020603050405020304" pitchFamily="18" charset="0"/>
              </a:rPr>
              <a:t>AssertJ</a:t>
            </a:r>
            <a:r>
              <a:rPr lang="en-US" sz="2000" b="1" i="0" dirty="0" smtClean="0">
                <a:effectLst/>
                <a:latin typeface="Times New Roman" panose="02020603050405020304" pitchFamily="18" charset="0"/>
              </a:rPr>
              <a:t>, </a:t>
            </a:r>
            <a:r>
              <a:rPr lang="en-US" sz="2000" b="1" i="0" dirty="0" err="1" smtClean="0">
                <a:effectLst/>
                <a:latin typeface="Times New Roman" panose="02020603050405020304" pitchFamily="18" charset="0"/>
              </a:rPr>
              <a:t>Gradle</a:t>
            </a:r>
            <a:r>
              <a:rPr lang="en-US" sz="2000" b="1" i="0" dirty="0" smtClean="0">
                <a:effectLst/>
                <a:latin typeface="Times New Roman" panose="02020603050405020304" pitchFamily="18" charset="0"/>
              </a:rPr>
              <a:t> 8.5</a:t>
            </a:r>
          </a:p>
        </p:txBody>
      </p:sp>
    </p:spTree>
    <p:extLst>
      <p:ext uri="{BB962C8B-B14F-4D97-AF65-F5344CB8AC3E}">
        <p14:creationId xmlns:p14="http://schemas.microsoft.com/office/powerpoint/2010/main" val="2424279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47898"/>
          </a:xfrm>
        </p:spPr>
        <p:txBody>
          <a:bodyPr>
            <a:normAutofit/>
          </a:bodyPr>
          <a:lstStyle/>
          <a:p>
            <a:r>
              <a:rPr lang="ru-RU" b="1" dirty="0"/>
              <a:t>Многоуровневая архитектура </a:t>
            </a:r>
            <a:r>
              <a:rPr lang="ru-RU" b="1" dirty="0" smtClean="0"/>
              <a:t>системы</a:t>
            </a:r>
            <a:endParaRPr lang="ru-RU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1507373" y="847899"/>
            <a:ext cx="9177251" cy="9975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507373" y="2343164"/>
            <a:ext cx="9177251" cy="997526"/>
          </a:xfrm>
          <a:prstGeom prst="roundRect">
            <a:avLst/>
          </a:prstGeom>
          <a:solidFill>
            <a:srgbClr val="E1A2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518455" y="3838429"/>
            <a:ext cx="9177251" cy="99752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432261" y="5333694"/>
            <a:ext cx="5353396" cy="99752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6400798" y="5333694"/>
            <a:ext cx="5408815" cy="99752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2438399" y="993018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b="1" dirty="0"/>
              <a:t>1. Presentation Layer</a:t>
            </a:r>
            <a:r>
              <a:rPr lang="en-US" dirty="0"/>
              <a:t> (Controller)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Прием HTTP-запросов, </a:t>
            </a:r>
            <a:r>
              <a:rPr lang="ru-RU" altLang="ru-RU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</a:t>
            </a: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рендеринг </a:t>
            </a:r>
            <a:r>
              <a:rPr lang="ru-RU" altLang="ru-RU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ru-RU" altLang="ru-RU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-шаблонов</a:t>
            </a:r>
            <a:endParaRPr lang="ru-RU" alt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438398" y="2517737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b="1" dirty="0"/>
              <a:t>2. Business Layer</a:t>
            </a:r>
            <a:r>
              <a:rPr lang="en-US" dirty="0"/>
              <a:t> (Service</a:t>
            </a:r>
            <a:r>
              <a:rPr lang="en-US" dirty="0" smtClean="0"/>
              <a:t>)</a:t>
            </a:r>
            <a:endParaRPr lang="ru-RU" dirty="0" smtClean="0"/>
          </a:p>
          <a:p>
            <a:pPr lvl="0" algn="ctr"/>
            <a:r>
              <a:rPr lang="ru-RU" dirty="0" err="1"/>
              <a:t>Оркестрация</a:t>
            </a:r>
            <a:r>
              <a:rPr lang="ru-RU" dirty="0"/>
              <a:t> бизнес-правил, генерация рекомендаций (</a:t>
            </a:r>
            <a:r>
              <a:rPr lang="ru-RU" dirty="0" err="1"/>
              <a:t>MoodAnalyzer</a:t>
            </a:r>
            <a:r>
              <a:rPr lang="ru-RU" dirty="0"/>
              <a:t>)</a:t>
            </a:r>
            <a:endParaRPr lang="ru-RU" alt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2449480" y="3983548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fr-FR" b="1" dirty="0"/>
              <a:t>3. Abstraction Layer</a:t>
            </a:r>
            <a:r>
              <a:rPr lang="fr-FR" dirty="0"/>
              <a:t> (Port Interfaces</a:t>
            </a:r>
            <a:r>
              <a:rPr lang="fr-FR" dirty="0" smtClean="0"/>
              <a:t>)</a:t>
            </a:r>
            <a:endParaRPr lang="ru-RU" dirty="0" smtClean="0"/>
          </a:p>
          <a:p>
            <a:pPr lvl="0" algn="ctr"/>
            <a:r>
              <a:rPr lang="ru-RU" dirty="0"/>
              <a:t>Контракты доступа к данным (</a:t>
            </a:r>
            <a:r>
              <a:rPr lang="ru-RU" dirty="0" err="1"/>
              <a:t>MoviePort</a:t>
            </a:r>
            <a:r>
              <a:rPr lang="ru-RU" dirty="0"/>
              <a:t>, </a:t>
            </a:r>
            <a:r>
              <a:rPr lang="ru-RU" dirty="0" err="1"/>
              <a:t>UserPort</a:t>
            </a:r>
            <a:r>
              <a:rPr lang="ru-RU" dirty="0"/>
              <a:t> и др.)</a:t>
            </a:r>
            <a:endParaRPr lang="ru-RU" alt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806333" y="5509291"/>
            <a:ext cx="4605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b="1" dirty="0"/>
              <a:t>4a. DB Adapter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altLang="ru-RU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JPA + </a:t>
            </a:r>
            <a:r>
              <a:rPr lang="ru-RU" altLang="ru-RU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Firebird</a:t>
            </a:r>
            <a:endParaRPr lang="ru-RU" alt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6802579" y="5509291"/>
            <a:ext cx="4605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b="1" dirty="0"/>
              <a:t>4b. JSON </a:t>
            </a:r>
            <a:r>
              <a:rPr lang="en-US" b="1" dirty="0" smtClean="0"/>
              <a:t>Adapter</a:t>
            </a:r>
            <a:endParaRPr lang="ru-RU" b="1" dirty="0" smtClean="0"/>
          </a:p>
          <a:p>
            <a:pPr lvl="0" algn="ctr"/>
            <a:r>
              <a:rPr lang="en-US" dirty="0" smtClean="0"/>
              <a:t>Jackson </a:t>
            </a:r>
            <a:r>
              <a:rPr lang="en-US" dirty="0"/>
              <a:t>+ File System</a:t>
            </a:r>
            <a:endParaRPr lang="ru-RU" altLang="ru-RU" dirty="0"/>
          </a:p>
        </p:txBody>
      </p:sp>
      <p:cxnSp>
        <p:nvCxnSpPr>
          <p:cNvPr id="19" name="Прямая со стрелкой 18"/>
          <p:cNvCxnSpPr>
            <a:stCxn id="3" idx="2"/>
            <a:endCxn id="4" idx="0"/>
          </p:cNvCxnSpPr>
          <p:nvPr/>
        </p:nvCxnSpPr>
        <p:spPr>
          <a:xfrm>
            <a:off x="6095999" y="1845425"/>
            <a:ext cx="0" cy="4977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4" idx="2"/>
            <a:endCxn id="5" idx="0"/>
          </p:cNvCxnSpPr>
          <p:nvPr/>
        </p:nvCxnSpPr>
        <p:spPr>
          <a:xfrm>
            <a:off x="6095999" y="3340690"/>
            <a:ext cx="11082" cy="4977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>
            <a:endCxn id="6" idx="0"/>
          </p:cNvCxnSpPr>
          <p:nvPr/>
        </p:nvCxnSpPr>
        <p:spPr>
          <a:xfrm>
            <a:off x="3108959" y="4835955"/>
            <a:ext cx="0" cy="4977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/>
          <p:nvPr/>
        </p:nvCxnSpPr>
        <p:spPr>
          <a:xfrm>
            <a:off x="9094999" y="4835955"/>
            <a:ext cx="0" cy="4977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502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22895"/>
          </a:xfrm>
        </p:spPr>
        <p:txBody>
          <a:bodyPr>
            <a:normAutofit/>
          </a:bodyPr>
          <a:lstStyle/>
          <a:p>
            <a:r>
              <a:rPr lang="ru-RU" b="1" dirty="0"/>
              <a:t>Информационная модель (8 сущностей</a:t>
            </a:r>
            <a:r>
              <a:rPr lang="ru-RU" b="1" dirty="0" smtClean="0"/>
              <a:t>)</a:t>
            </a:r>
            <a:endParaRPr lang="ru-RU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381000" y="899160"/>
            <a:ext cx="5151120" cy="263652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6309360" y="899160"/>
            <a:ext cx="5151120" cy="263652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81000" y="3947160"/>
            <a:ext cx="5151120" cy="2636520"/>
          </a:xfrm>
          <a:prstGeom prst="roundRect">
            <a:avLst/>
          </a:prstGeom>
          <a:solidFill>
            <a:srgbClr val="FF7D7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309360" y="3947160"/>
            <a:ext cx="5151120" cy="26365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381000" y="1134375"/>
            <a:ext cx="515112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🎬 Ядро </a:t>
            </a:r>
            <a:r>
              <a:rPr lang="ru-RU" sz="2800" b="1" dirty="0" err="1" smtClean="0"/>
              <a:t>медиаконтента</a:t>
            </a:r>
            <a:endParaRPr lang="ru-RU" sz="2800" b="1" dirty="0" smtClean="0"/>
          </a:p>
          <a:p>
            <a:r>
              <a:rPr lang="en-US" sz="2400" b="1" dirty="0" smtClean="0"/>
              <a:t>Movie</a:t>
            </a:r>
            <a:r>
              <a:rPr lang="en-US" sz="2400" dirty="0"/>
              <a:t> | Title, </a:t>
            </a:r>
            <a:r>
              <a:rPr lang="en-US" sz="2400" dirty="0" err="1"/>
              <a:t>FilePath</a:t>
            </a:r>
            <a:r>
              <a:rPr lang="en-US" sz="2400" dirty="0"/>
              <a:t>, Duration, Status</a:t>
            </a:r>
          </a:p>
          <a:p>
            <a:r>
              <a:rPr lang="en-US" sz="2400" b="1" dirty="0" smtClean="0"/>
              <a:t>Series</a:t>
            </a:r>
            <a:r>
              <a:rPr lang="en-US" sz="2400" dirty="0"/>
              <a:t> | </a:t>
            </a:r>
            <a:r>
              <a:rPr lang="en-US" sz="2400" dirty="0" err="1"/>
              <a:t>SeasonsCount</a:t>
            </a:r>
            <a:r>
              <a:rPr lang="en-US" sz="2400" dirty="0"/>
              <a:t>, </a:t>
            </a:r>
            <a:r>
              <a:rPr lang="en-US" sz="2400" dirty="0" err="1"/>
              <a:t>EpisodesCount</a:t>
            </a:r>
            <a:r>
              <a:rPr lang="en-US" sz="2400" dirty="0"/>
              <a:t>, 1:N к </a:t>
            </a:r>
            <a:r>
              <a:rPr lang="en-US" sz="2400" dirty="0" smtClean="0"/>
              <a:t>Season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6309360" y="1134375"/>
            <a:ext cx="515112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📂 Иерархия сериалов</a:t>
            </a:r>
          </a:p>
          <a:p>
            <a:r>
              <a:rPr lang="en-US" sz="2400" b="1" dirty="0"/>
              <a:t>Season</a:t>
            </a:r>
            <a:r>
              <a:rPr lang="en-US" sz="2400" dirty="0"/>
              <a:t> | </a:t>
            </a:r>
            <a:r>
              <a:rPr lang="en-US" sz="2400" dirty="0" err="1"/>
              <a:t>SeasonNumber</a:t>
            </a:r>
            <a:r>
              <a:rPr lang="en-US" sz="2400" dirty="0"/>
              <a:t>, </a:t>
            </a:r>
            <a:r>
              <a:rPr lang="en-US" sz="2400" dirty="0" err="1"/>
              <a:t>EpisodesCount</a:t>
            </a:r>
            <a:r>
              <a:rPr lang="en-US" sz="2400" dirty="0"/>
              <a:t>, CASCADE delete</a:t>
            </a:r>
          </a:p>
          <a:p>
            <a:r>
              <a:rPr lang="en-US" sz="2400" b="1" dirty="0"/>
              <a:t>Episode</a:t>
            </a:r>
            <a:r>
              <a:rPr lang="en-US" sz="2400" dirty="0"/>
              <a:t> | </a:t>
            </a:r>
            <a:r>
              <a:rPr lang="en-US" sz="2400" dirty="0" err="1"/>
              <a:t>EpisodeNumber</a:t>
            </a:r>
            <a:r>
              <a:rPr lang="en-US" sz="2400" dirty="0"/>
              <a:t>, </a:t>
            </a:r>
            <a:r>
              <a:rPr lang="en-US" sz="2400" dirty="0" err="1"/>
              <a:t>FilePath</a:t>
            </a:r>
            <a:r>
              <a:rPr lang="en-US" sz="2400" dirty="0"/>
              <a:t>, </a:t>
            </a:r>
            <a:r>
              <a:rPr lang="en-US" sz="2400" dirty="0" err="1" smtClean="0"/>
              <a:t>IsWatched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381000" y="4311312"/>
            <a:ext cx="515112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📚 Справочные данные</a:t>
            </a:r>
          </a:p>
          <a:p>
            <a:r>
              <a:rPr lang="ru-RU" sz="2400" dirty="0"/>
              <a:t>🎭 </a:t>
            </a:r>
            <a:r>
              <a:rPr lang="en-US" sz="2400" dirty="0"/>
              <a:t>Genre (UNIQUE</a:t>
            </a:r>
            <a:r>
              <a:rPr lang="en-US" sz="2400" dirty="0" smtClean="0"/>
              <a:t>)</a:t>
            </a:r>
            <a:endParaRPr lang="ru-RU" sz="2400" dirty="0" smtClean="0"/>
          </a:p>
          <a:p>
            <a:r>
              <a:rPr lang="ru-RU" sz="2400" dirty="0"/>
              <a:t>🎬 </a:t>
            </a:r>
            <a:r>
              <a:rPr lang="en-US" sz="2400" dirty="0"/>
              <a:t>Director (UNIQUE</a:t>
            </a:r>
            <a:r>
              <a:rPr lang="en-US" sz="2400" dirty="0" smtClean="0"/>
              <a:t>)</a:t>
            </a:r>
            <a:br>
              <a:rPr lang="en-US" sz="2400" dirty="0" smtClean="0"/>
            </a:br>
            <a:r>
              <a:rPr lang="ru-RU" sz="2400" dirty="0"/>
              <a:t>👤 </a:t>
            </a:r>
            <a:r>
              <a:rPr lang="en-US" sz="2400" dirty="0"/>
              <a:t>Actor (Bio)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Связи</a:t>
            </a:r>
            <a:r>
              <a:rPr lang="en-US" dirty="0" smtClean="0"/>
              <a:t> </a:t>
            </a:r>
            <a:r>
              <a:rPr lang="en-US" dirty="0" err="1"/>
              <a:t>ManyToMany</a:t>
            </a:r>
            <a:r>
              <a:rPr lang="en-US" dirty="0"/>
              <a:t>: Movie ↔ Genre, Movie ↔ </a:t>
            </a:r>
            <a:r>
              <a:rPr lang="en-US" dirty="0" smtClean="0"/>
              <a:t>Actor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309360" y="4329767"/>
            <a:ext cx="515112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🔐 Системная сущность</a:t>
            </a:r>
          </a:p>
          <a:p>
            <a:r>
              <a:rPr lang="en-US" sz="2400" b="1" dirty="0" smtClean="0"/>
              <a:t>User</a:t>
            </a:r>
            <a:endParaRPr lang="ru-RU" sz="2400" b="1" dirty="0" smtClean="0"/>
          </a:p>
          <a:p>
            <a:r>
              <a:rPr lang="en-US" sz="2400" dirty="0"/>
              <a:t>Username (UNIQUE), Password (</a:t>
            </a:r>
            <a:r>
              <a:rPr lang="en-US" sz="2400" dirty="0" err="1"/>
              <a:t>BCrypt</a:t>
            </a:r>
            <a:r>
              <a:rPr lang="en-US" sz="2400" dirty="0"/>
              <a:t>), </a:t>
            </a:r>
            <a:r>
              <a:rPr lang="en-US" sz="2400" dirty="0" err="1"/>
              <a:t>RoleName</a:t>
            </a:r>
            <a:r>
              <a:rPr lang="en-US" sz="2400" dirty="0"/>
              <a:t> (ADMIN/moderator/user), </a:t>
            </a:r>
            <a:r>
              <a:rPr lang="en-US" sz="2400" dirty="0" err="1"/>
              <a:t>CreatedAt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032017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22895"/>
          </a:xfrm>
        </p:spPr>
        <p:txBody>
          <a:bodyPr>
            <a:normAutofit/>
          </a:bodyPr>
          <a:lstStyle/>
          <a:p>
            <a:r>
              <a:rPr lang="ru-RU" b="1" dirty="0"/>
              <a:t>Ключевые возможности </a:t>
            </a:r>
            <a:r>
              <a:rPr lang="ru-RU" b="1" dirty="0" smtClean="0"/>
              <a:t>системы</a:t>
            </a:r>
            <a:endParaRPr lang="ru-RU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381000" y="899160"/>
            <a:ext cx="5151120" cy="263652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6309360" y="899160"/>
            <a:ext cx="5151120" cy="263652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81000" y="3947160"/>
            <a:ext cx="5151120" cy="2636520"/>
          </a:xfrm>
          <a:prstGeom prst="roundRect">
            <a:avLst/>
          </a:prstGeom>
          <a:solidFill>
            <a:srgbClr val="FF7D7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309360" y="3947160"/>
            <a:ext cx="5151120" cy="26365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381000" y="1134375"/>
            <a:ext cx="515112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Динамическое </a:t>
            </a:r>
            <a:r>
              <a:rPr lang="ru-RU" sz="2800" b="1" dirty="0"/>
              <a:t>хранилище</a:t>
            </a:r>
          </a:p>
          <a:p>
            <a:r>
              <a:rPr lang="ru-RU" sz="2400" dirty="0"/>
              <a:t>Мгновенное переключение между </a:t>
            </a:r>
            <a:r>
              <a:rPr lang="ru-RU" sz="2400" dirty="0" err="1"/>
              <a:t>Firebird</a:t>
            </a:r>
            <a:r>
              <a:rPr lang="ru-RU" sz="2400" dirty="0"/>
              <a:t> SQL и JSON-файлами в рамках одной HTTP-сессии пользователя без перезагрузки приложения.</a:t>
            </a:r>
            <a:r>
              <a:rPr lang="ru-RU" sz="2400" dirty="0" smtClean="0"/>
              <a:t/>
            </a:r>
            <a:br>
              <a:rPr lang="ru-RU" sz="2400" dirty="0" smtClean="0"/>
            </a:b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6309360" y="1134375"/>
            <a:ext cx="515112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Безопасность </a:t>
            </a:r>
            <a:r>
              <a:rPr lang="ru-RU" sz="2800" b="1" dirty="0"/>
              <a:t>и Роли</a:t>
            </a:r>
          </a:p>
          <a:p>
            <a:r>
              <a:rPr lang="ru-RU" sz="2400" dirty="0"/>
              <a:t>Трехуровневая модель доступа (</a:t>
            </a:r>
            <a:r>
              <a:rPr lang="en-US" sz="2400" dirty="0"/>
              <a:t>ADMIN, moderator, user) </a:t>
            </a:r>
            <a:r>
              <a:rPr lang="ru-RU" sz="2400" dirty="0"/>
              <a:t>на базе </a:t>
            </a:r>
            <a:r>
              <a:rPr lang="en-US" sz="2400" dirty="0"/>
              <a:t>Spring Security </a:t>
            </a:r>
            <a:r>
              <a:rPr lang="ru-RU" sz="2400" dirty="0"/>
              <a:t>с хешированием паролей </a:t>
            </a:r>
            <a:r>
              <a:rPr lang="en-US" sz="2400" dirty="0" err="1"/>
              <a:t>BCrypt</a:t>
            </a:r>
            <a:r>
              <a:rPr lang="en-US" sz="2400" dirty="0"/>
              <a:t> </a:t>
            </a:r>
            <a:r>
              <a:rPr lang="ru-RU" sz="2400" dirty="0"/>
              <a:t>и защитой от </a:t>
            </a:r>
            <a:r>
              <a:rPr lang="en-US" sz="2400" dirty="0"/>
              <a:t>CSRF/XSS.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4311312"/>
            <a:ext cx="515112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Медиа-движок</a:t>
            </a:r>
          </a:p>
          <a:p>
            <a:r>
              <a:rPr lang="ru-RU" sz="2400" dirty="0"/>
              <a:t>Встроенный HTML5-плеер с каскадным созданием структуры сериалов (1 клик = сериал + сезон + N эпизодов) и навигацией </a:t>
            </a:r>
            <a:r>
              <a:rPr lang="ru-RU" sz="2400" dirty="0" err="1"/>
              <a:t>Prev</a:t>
            </a:r>
            <a:r>
              <a:rPr lang="ru-RU" sz="2400" dirty="0"/>
              <a:t>/</a:t>
            </a:r>
            <a:r>
              <a:rPr lang="ru-RU" sz="2400" dirty="0" err="1"/>
              <a:t>Next</a:t>
            </a:r>
            <a:r>
              <a:rPr lang="ru-RU" sz="2400" dirty="0"/>
              <a:t>.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309360" y="4329767"/>
            <a:ext cx="515112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Умные рекомендации</a:t>
            </a:r>
          </a:p>
          <a:p>
            <a:r>
              <a:rPr lang="ru-RU" sz="2400" dirty="0"/>
              <a:t>Генератор "Фильм дня" с тегами настроения (</a:t>
            </a:r>
            <a:r>
              <a:rPr lang="ru-RU" sz="2400" dirty="0" err="1"/>
              <a:t>MoodAnalyzer</a:t>
            </a:r>
            <a:r>
              <a:rPr lang="ru-RU" sz="2400" dirty="0"/>
              <a:t>) и система событийных уведомлений о релизах через паттерн </a:t>
            </a:r>
            <a:r>
              <a:rPr lang="ru-RU" sz="2400" dirty="0" err="1"/>
              <a:t>Observer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4854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22895"/>
          </a:xfrm>
        </p:spPr>
        <p:txBody>
          <a:bodyPr>
            <a:normAutofit/>
          </a:bodyPr>
          <a:lstStyle/>
          <a:p>
            <a:r>
              <a:rPr lang="ru-RU" b="1" dirty="0"/>
              <a:t>Применение паттернов </a:t>
            </a:r>
            <a:r>
              <a:rPr lang="ru-RU" b="1" dirty="0" smtClean="0"/>
              <a:t>проектирования</a:t>
            </a:r>
            <a:endParaRPr lang="ru-RU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586740" y="990600"/>
            <a:ext cx="11018520" cy="173736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586740" y="2995665"/>
            <a:ext cx="11018520" cy="173736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586740" y="5000730"/>
            <a:ext cx="11018520" cy="173736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54906" y="5000730"/>
            <a:ext cx="11018520" cy="17373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754906" y="2995665"/>
            <a:ext cx="11018520" cy="17373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754906" y="990600"/>
            <a:ext cx="11018520" cy="17373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610710" y="990600"/>
            <a:ext cx="897057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810375" algn="l"/>
              </a:tabLst>
            </a:pPr>
            <a:r>
              <a:rPr lang="ru-RU" sz="2200" b="1" dirty="0" err="1" smtClean="0"/>
              <a:t>Port-Adapter</a:t>
            </a:r>
            <a:r>
              <a:rPr lang="ru-RU" sz="2200" b="1" dirty="0" smtClean="0"/>
              <a:t> (</a:t>
            </a:r>
            <a:r>
              <a:rPr lang="ru-RU" sz="2200" b="1" dirty="0" err="1" smtClean="0"/>
              <a:t>Hexagonal</a:t>
            </a:r>
            <a:r>
              <a:rPr lang="ru-RU" sz="2200" b="1" dirty="0" smtClean="0"/>
              <a:t>)                                 	Архитектурный</a:t>
            </a:r>
            <a:endParaRPr lang="ru-RU" sz="2200" dirty="0" smtClean="0"/>
          </a:p>
          <a:p>
            <a:r>
              <a:rPr lang="ru-RU" sz="2200" b="1" dirty="0" smtClean="0"/>
              <a:t>Задача:</a:t>
            </a:r>
            <a:r>
              <a:rPr lang="ru-RU" sz="2200" dirty="0" smtClean="0"/>
              <a:t> Изоляция бизнес-логики от деталей хранения.</a:t>
            </a:r>
            <a:br>
              <a:rPr lang="ru-RU" sz="2200" dirty="0" smtClean="0"/>
            </a:br>
            <a:r>
              <a:rPr lang="ru-RU" sz="2200" b="1" dirty="0" smtClean="0"/>
              <a:t>Решение:</a:t>
            </a:r>
            <a:r>
              <a:rPr lang="ru-RU" sz="2200" dirty="0" smtClean="0"/>
              <a:t> 8 интерфейсов (</a:t>
            </a:r>
            <a:r>
              <a:rPr lang="ru-RU" sz="2200" dirty="0" err="1" smtClean="0"/>
              <a:t>Ports</a:t>
            </a:r>
            <a:r>
              <a:rPr lang="ru-RU" sz="2200" dirty="0" smtClean="0"/>
              <a:t>) и 16 классов (</a:t>
            </a:r>
            <a:r>
              <a:rPr lang="ru-RU" sz="2200" dirty="0" err="1" smtClean="0"/>
              <a:t>Adapters</a:t>
            </a:r>
            <a:r>
              <a:rPr lang="ru-RU" sz="2200" dirty="0" smtClean="0"/>
              <a:t>).</a:t>
            </a:r>
            <a:br>
              <a:rPr lang="ru-RU" sz="2200" dirty="0" smtClean="0"/>
            </a:br>
            <a:r>
              <a:rPr lang="ru-RU" sz="2200" b="1" dirty="0" smtClean="0"/>
              <a:t>Результат:</a:t>
            </a:r>
            <a:r>
              <a:rPr lang="ru-RU" sz="2200" dirty="0" smtClean="0"/>
              <a:t> Добавление новой БД (напр., </a:t>
            </a:r>
            <a:r>
              <a:rPr lang="ru-RU" sz="2200" dirty="0" err="1" smtClean="0"/>
              <a:t>PostgreSQL</a:t>
            </a:r>
            <a:r>
              <a:rPr lang="ru-RU" sz="2200" dirty="0" smtClean="0"/>
              <a:t>) требует создания всего 1 класса без правки ядра (OCP).</a:t>
            </a:r>
            <a:endParaRPr lang="ru-RU" sz="2200" dirty="0"/>
          </a:p>
        </p:txBody>
      </p:sp>
      <p:sp>
        <p:nvSpPr>
          <p:cNvPr id="10" name="TextBox 9"/>
          <p:cNvSpPr txBox="1"/>
          <p:nvPr/>
        </p:nvSpPr>
        <p:spPr>
          <a:xfrm>
            <a:off x="1282263" y="3048737"/>
            <a:ext cx="996380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7173913" algn="l"/>
              </a:tabLst>
            </a:pPr>
            <a:r>
              <a:rPr lang="ru-RU" sz="2000" b="1" dirty="0" err="1"/>
              <a:t>Strategy</a:t>
            </a:r>
            <a:r>
              <a:rPr lang="ru-RU" sz="2000" b="1" dirty="0"/>
              <a:t> (</a:t>
            </a:r>
            <a:r>
              <a:rPr lang="ru-RU" sz="2000" b="1" dirty="0" smtClean="0"/>
              <a:t>Стратегия)	Поведенческий</a:t>
            </a:r>
            <a:endParaRPr lang="ru-RU" sz="2000" dirty="0"/>
          </a:p>
          <a:p>
            <a:r>
              <a:rPr lang="ru-RU" sz="2000" b="1" dirty="0"/>
              <a:t>Задача:</a:t>
            </a:r>
            <a:r>
              <a:rPr lang="ru-RU" sz="2000" dirty="0"/>
              <a:t> Выбор алгоритма получения данных в </a:t>
            </a:r>
            <a:r>
              <a:rPr lang="ru-RU" sz="2000" dirty="0" err="1"/>
              <a:t>runtime</a:t>
            </a:r>
            <a:r>
              <a:rPr lang="ru-RU" sz="2000" dirty="0"/>
              <a:t>.</a:t>
            </a:r>
            <a:br>
              <a:rPr lang="ru-RU" sz="2000" dirty="0"/>
            </a:br>
            <a:r>
              <a:rPr lang="ru-RU" sz="2000" b="1" dirty="0"/>
              <a:t>Решение:</a:t>
            </a:r>
            <a:r>
              <a:rPr lang="ru-RU" sz="2000" dirty="0"/>
              <a:t> `</a:t>
            </a:r>
            <a:r>
              <a:rPr lang="ru-RU" sz="2000" dirty="0" err="1"/>
              <a:t>DataModeService</a:t>
            </a:r>
            <a:r>
              <a:rPr lang="ru-RU" sz="2000" dirty="0"/>
              <a:t>` читает режим из `</a:t>
            </a:r>
            <a:r>
              <a:rPr lang="ru-RU" sz="2000" dirty="0" err="1"/>
              <a:t>HttpSession</a:t>
            </a:r>
            <a:r>
              <a:rPr lang="ru-RU" sz="2000" dirty="0"/>
              <a:t>` и через метод `</a:t>
            </a:r>
            <a:r>
              <a:rPr lang="ru-RU" sz="2000" dirty="0" err="1"/>
              <a:t>currentPort</a:t>
            </a:r>
            <a:r>
              <a:rPr lang="ru-RU" sz="2000" dirty="0"/>
              <a:t>()` возвращает нужный адаптер.</a:t>
            </a:r>
            <a:br>
              <a:rPr lang="ru-RU" sz="2000" dirty="0"/>
            </a:br>
            <a:r>
              <a:rPr lang="ru-RU" sz="2000" b="1" dirty="0"/>
              <a:t>Результат:</a:t>
            </a:r>
            <a:r>
              <a:rPr lang="ru-RU" sz="2000" dirty="0"/>
              <a:t> Переключение DB ↔ JSON "на лету" для каждого пользователя независимо.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6649" y="5073038"/>
            <a:ext cx="10195033" cy="1592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7267575" algn="l"/>
              </a:tabLst>
            </a:pPr>
            <a:r>
              <a:rPr lang="ru-RU" sz="1950" b="1" dirty="0" err="1"/>
              <a:t>Observer</a:t>
            </a:r>
            <a:r>
              <a:rPr lang="ru-RU" sz="1950" b="1" dirty="0"/>
              <a:t> (</a:t>
            </a:r>
            <a:r>
              <a:rPr lang="ru-RU" sz="1950" b="1" dirty="0" smtClean="0"/>
              <a:t>Наблюдатель)		Поведенческий</a:t>
            </a:r>
            <a:endParaRPr lang="ru-RU" sz="1950" dirty="0"/>
          </a:p>
          <a:p>
            <a:r>
              <a:rPr lang="ru-RU" sz="1950" b="1" dirty="0"/>
              <a:t>Задача:</a:t>
            </a:r>
            <a:r>
              <a:rPr lang="ru-RU" sz="1950" dirty="0"/>
              <a:t> Гибкая система уведомлений о новых релизах.</a:t>
            </a:r>
            <a:br>
              <a:rPr lang="ru-RU" sz="1950" dirty="0"/>
            </a:br>
            <a:r>
              <a:rPr lang="ru-RU" sz="1950" b="1" dirty="0"/>
              <a:t>Решение:</a:t>
            </a:r>
            <a:r>
              <a:rPr lang="ru-RU" sz="1950" dirty="0"/>
              <a:t> Интерфейс `</a:t>
            </a:r>
            <a:r>
              <a:rPr lang="ru-RU" sz="1950" dirty="0" err="1"/>
              <a:t>ReleaseNotifier</a:t>
            </a:r>
            <a:r>
              <a:rPr lang="ru-RU" sz="1950" dirty="0"/>
              <a:t>` с реализациями: </a:t>
            </a:r>
            <a:r>
              <a:rPr lang="ru-RU" sz="1950" dirty="0" err="1"/>
              <a:t>Email</a:t>
            </a:r>
            <a:r>
              <a:rPr lang="ru-RU" sz="1950" dirty="0"/>
              <a:t>, </a:t>
            </a:r>
            <a:r>
              <a:rPr lang="ru-RU" sz="1950" dirty="0" err="1"/>
              <a:t>InApp</a:t>
            </a:r>
            <a:r>
              <a:rPr lang="ru-RU" sz="1950" dirty="0"/>
              <a:t>, </a:t>
            </a:r>
            <a:r>
              <a:rPr lang="ru-RU" sz="1950" dirty="0" err="1"/>
              <a:t>Mood</a:t>
            </a:r>
            <a:r>
              <a:rPr lang="ru-RU" sz="1950" dirty="0"/>
              <a:t>. </a:t>
            </a:r>
            <a:r>
              <a:rPr lang="ru-RU" sz="1950" dirty="0" err="1"/>
              <a:t>Spring</a:t>
            </a:r>
            <a:r>
              <a:rPr lang="ru-RU" sz="1950" dirty="0"/>
              <a:t> автоматически собирает их в `</a:t>
            </a:r>
            <a:r>
              <a:rPr lang="ru-RU" sz="1950" dirty="0" err="1"/>
              <a:t>List</a:t>
            </a:r>
            <a:r>
              <a:rPr lang="ru-RU" sz="1950" dirty="0"/>
              <a:t>`.</a:t>
            </a:r>
            <a:br>
              <a:rPr lang="ru-RU" sz="1950" dirty="0"/>
            </a:br>
            <a:r>
              <a:rPr lang="ru-RU" sz="1950" b="1" dirty="0"/>
              <a:t>Результат:</a:t>
            </a:r>
            <a:r>
              <a:rPr lang="ru-RU" sz="1950" dirty="0"/>
              <a:t> Добавление нового канала (напр., </a:t>
            </a:r>
            <a:r>
              <a:rPr lang="ru-RU" sz="1950" dirty="0" err="1"/>
              <a:t>Telegram</a:t>
            </a:r>
            <a:r>
              <a:rPr lang="ru-RU" sz="1950" dirty="0"/>
              <a:t>-бот) без изменения кода оркестратора.</a:t>
            </a:r>
          </a:p>
        </p:txBody>
      </p:sp>
    </p:spTree>
    <p:extLst>
      <p:ext uri="{BB962C8B-B14F-4D97-AF65-F5344CB8AC3E}">
        <p14:creationId xmlns:p14="http://schemas.microsoft.com/office/powerpoint/2010/main" val="2481540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22895"/>
          </a:xfrm>
        </p:spPr>
        <p:txBody>
          <a:bodyPr>
            <a:normAutofit/>
          </a:bodyPr>
          <a:lstStyle/>
          <a:p>
            <a:r>
              <a:rPr lang="ru-RU" b="1" dirty="0"/>
              <a:t>Механизм работы </a:t>
            </a:r>
            <a:r>
              <a:rPr lang="ru-RU" b="1" dirty="0" smtClean="0"/>
              <a:t>адаптеров</a:t>
            </a:r>
            <a:endParaRPr lang="ru-RU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331076" y="1008993"/>
            <a:ext cx="5186855" cy="26013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6695089" y="1008993"/>
            <a:ext cx="5186855" cy="26013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1392620" y="3896401"/>
            <a:ext cx="9406759" cy="26013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31076" y="1121863"/>
            <a:ext cx="518685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DB-</a:t>
            </a:r>
            <a:r>
              <a:rPr lang="ru-RU" sz="2800" dirty="0" smtClean="0"/>
              <a:t>адаптеры</a:t>
            </a:r>
          </a:p>
          <a:p>
            <a:pPr indent="22225">
              <a:buFont typeface="Calibri" panose="020F0502020204030204" pitchFamily="34" charset="0"/>
              <a:buChar char="-"/>
            </a:pPr>
            <a:r>
              <a:rPr lang="ru-RU" sz="2100" dirty="0" smtClean="0"/>
              <a:t>Аннотация @</a:t>
            </a:r>
            <a:r>
              <a:rPr lang="en-US" sz="2100" dirty="0" smtClean="0"/>
              <a:t>Component("</a:t>
            </a:r>
            <a:r>
              <a:rPr lang="en-US" sz="2100" dirty="0" err="1" smtClean="0"/>
              <a:t>dbMoviePort</a:t>
            </a:r>
            <a:r>
              <a:rPr lang="en-US" sz="2100" dirty="0" smtClean="0"/>
              <a:t>")</a:t>
            </a:r>
          </a:p>
          <a:p>
            <a:pPr indent="22225">
              <a:buFont typeface="Calibri" panose="020F0502020204030204" pitchFamily="34" charset="0"/>
              <a:buChar char="-"/>
            </a:pPr>
            <a:r>
              <a:rPr lang="ru-RU" sz="2100" dirty="0" smtClean="0"/>
              <a:t>Используют </a:t>
            </a:r>
            <a:r>
              <a:rPr lang="en-US" sz="2100" dirty="0" smtClean="0"/>
              <a:t>Spring Data JPA </a:t>
            </a:r>
            <a:r>
              <a:rPr lang="ru-RU" sz="2100" dirty="0" smtClean="0"/>
              <a:t>и </a:t>
            </a:r>
            <a:r>
              <a:rPr lang="en-US" sz="2100" dirty="0" smtClean="0"/>
              <a:t>Firebird SQL</a:t>
            </a:r>
          </a:p>
          <a:p>
            <a:pPr indent="22225">
              <a:buFont typeface="Calibri" panose="020F0502020204030204" pitchFamily="34" charset="0"/>
              <a:buChar char="-"/>
            </a:pPr>
            <a:r>
              <a:rPr lang="en-US" sz="2100" dirty="0" smtClean="0"/>
              <a:t>Derived queries (</a:t>
            </a:r>
            <a:r>
              <a:rPr lang="ru-RU" sz="2100" dirty="0" smtClean="0"/>
              <a:t>напр., </a:t>
            </a:r>
            <a:r>
              <a:rPr lang="en-US" sz="2100" dirty="0" err="1" smtClean="0"/>
              <a:t>findBySeason_IdAndEpisodeNumber</a:t>
            </a:r>
            <a:r>
              <a:rPr lang="en-US" sz="2100" dirty="0" smtClean="0"/>
              <a:t>)</a:t>
            </a:r>
          </a:p>
          <a:p>
            <a:pPr indent="22225">
              <a:buFont typeface="Calibri" panose="020F0502020204030204" pitchFamily="34" charset="0"/>
              <a:buChar char="-"/>
            </a:pPr>
            <a:r>
              <a:rPr lang="ru-RU" sz="2100" dirty="0" smtClean="0"/>
              <a:t>Каскадные операции через </a:t>
            </a:r>
            <a:r>
              <a:rPr lang="en-US" sz="2100" dirty="0" err="1" smtClean="0"/>
              <a:t>CascadeType.ALL</a:t>
            </a:r>
            <a:endParaRPr lang="ru-RU" sz="2100" dirty="0"/>
          </a:p>
        </p:txBody>
      </p:sp>
      <p:sp>
        <p:nvSpPr>
          <p:cNvPr id="12" name="TextBox 11"/>
          <p:cNvSpPr txBox="1"/>
          <p:nvPr/>
        </p:nvSpPr>
        <p:spPr>
          <a:xfrm>
            <a:off x="6695090" y="1080154"/>
            <a:ext cx="518685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JSON-</a:t>
            </a:r>
            <a:r>
              <a:rPr lang="ru-RU" sz="2800" dirty="0" smtClean="0"/>
              <a:t>адаптеры</a:t>
            </a:r>
          </a:p>
          <a:p>
            <a:pPr indent="22225">
              <a:buFont typeface="Calibri" panose="020F0502020204030204" pitchFamily="34" charset="0"/>
              <a:buChar char="-"/>
            </a:pPr>
            <a:r>
              <a:rPr lang="ru-RU" sz="2100" dirty="0" smtClean="0"/>
              <a:t>Аннотация @</a:t>
            </a:r>
            <a:r>
              <a:rPr lang="en-US" sz="2100" dirty="0" smtClean="0"/>
              <a:t>Component("</a:t>
            </a:r>
            <a:r>
              <a:rPr lang="en-US" sz="2100" dirty="0" err="1" smtClean="0"/>
              <a:t>jsonMoviePort</a:t>
            </a:r>
            <a:r>
              <a:rPr lang="en-US" sz="2100" dirty="0" smtClean="0"/>
              <a:t>")</a:t>
            </a:r>
          </a:p>
          <a:p>
            <a:pPr indent="22225">
              <a:buFont typeface="Calibri" panose="020F0502020204030204" pitchFamily="34" charset="0"/>
              <a:buChar char="-"/>
            </a:pPr>
            <a:r>
              <a:rPr lang="en-US" sz="2100" dirty="0" smtClean="0"/>
              <a:t>Jackson </a:t>
            </a:r>
            <a:r>
              <a:rPr lang="en-US" sz="2100" dirty="0" err="1" smtClean="0"/>
              <a:t>ObjectMapper</a:t>
            </a:r>
            <a:r>
              <a:rPr lang="en-US" sz="2100" dirty="0" smtClean="0"/>
              <a:t> </a:t>
            </a:r>
            <a:r>
              <a:rPr lang="ru-RU" sz="2100" dirty="0" smtClean="0"/>
              <a:t>с </a:t>
            </a:r>
            <a:r>
              <a:rPr lang="en-US" sz="2100" dirty="0" smtClean="0"/>
              <a:t>Pretty-printing</a:t>
            </a:r>
          </a:p>
          <a:p>
            <a:pPr indent="22225">
              <a:buFont typeface="Calibri" panose="020F0502020204030204" pitchFamily="34" charset="0"/>
              <a:buChar char="-"/>
            </a:pPr>
            <a:r>
              <a:rPr lang="ru-RU" sz="2100" dirty="0" err="1" smtClean="0"/>
              <a:t>Автогенерация</a:t>
            </a:r>
            <a:r>
              <a:rPr lang="ru-RU" sz="2100" dirty="0" smtClean="0"/>
              <a:t> </a:t>
            </a:r>
            <a:r>
              <a:rPr lang="en-US" sz="2100" dirty="0" smtClean="0"/>
              <a:t>ID </a:t>
            </a:r>
            <a:r>
              <a:rPr lang="ru-RU" sz="2100" dirty="0" smtClean="0"/>
              <a:t>и эмуляция </a:t>
            </a:r>
            <a:r>
              <a:rPr lang="en-US" sz="2100" dirty="0" smtClean="0"/>
              <a:t>UPDATE</a:t>
            </a:r>
          </a:p>
          <a:p>
            <a:pPr indent="22225">
              <a:buFont typeface="Calibri" panose="020F0502020204030204" pitchFamily="34" charset="0"/>
              <a:buChar char="-"/>
            </a:pPr>
            <a:r>
              <a:rPr lang="en-US" sz="2100" dirty="0" smtClean="0"/>
              <a:t>Stream API </a:t>
            </a:r>
            <a:r>
              <a:rPr lang="ru-RU" sz="2100" dirty="0" smtClean="0"/>
              <a:t>для фильтрации и навигации</a:t>
            </a:r>
            <a:endParaRPr lang="ru-RU" sz="2100" dirty="0"/>
          </a:p>
        </p:txBody>
      </p:sp>
      <p:sp>
        <p:nvSpPr>
          <p:cNvPr id="14" name="TextBox 13"/>
          <p:cNvSpPr txBox="1"/>
          <p:nvPr/>
        </p:nvSpPr>
        <p:spPr>
          <a:xfrm>
            <a:off x="1615440" y="3922628"/>
            <a:ext cx="7543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@</a:t>
            </a:r>
            <a:r>
              <a:rPr lang="en-US" sz="1600" dirty="0" err="1"/>
              <a:t>Autowired</a:t>
            </a:r>
            <a:endParaRPr lang="en-US" sz="1600" dirty="0"/>
          </a:p>
          <a:p>
            <a:r>
              <a:rPr lang="en-US" sz="1600" dirty="0"/>
              <a:t>@Qualifier</a:t>
            </a:r>
          </a:p>
          <a:p>
            <a:r>
              <a:rPr lang="en-US" sz="1600" dirty="0"/>
              <a:t>("</a:t>
            </a:r>
            <a:r>
              <a:rPr lang="en-US" sz="1600" dirty="0" err="1"/>
              <a:t>dbMoviePort</a:t>
            </a:r>
            <a:r>
              <a:rPr lang="en-US" sz="1600" dirty="0"/>
              <a:t>") private </a:t>
            </a:r>
            <a:r>
              <a:rPr lang="en-US" sz="1600" dirty="0" err="1"/>
              <a:t>MoviePort</a:t>
            </a:r>
            <a:r>
              <a:rPr lang="en-US" sz="1600" dirty="0"/>
              <a:t> </a:t>
            </a:r>
            <a:r>
              <a:rPr lang="en-US" sz="1600" dirty="0" err="1"/>
              <a:t>dbAdapter</a:t>
            </a:r>
            <a:r>
              <a:rPr lang="en-US" sz="1600" dirty="0"/>
              <a:t>;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/>
              <a:t>@</a:t>
            </a:r>
            <a:r>
              <a:rPr lang="en-US" sz="1600" dirty="0" err="1"/>
              <a:t>Autowired</a:t>
            </a:r>
            <a:endParaRPr lang="en-US" sz="1600" dirty="0"/>
          </a:p>
          <a:p>
            <a:r>
              <a:rPr lang="en-US" sz="1600" dirty="0"/>
              <a:t>@Qualifier</a:t>
            </a:r>
          </a:p>
          <a:p>
            <a:r>
              <a:rPr lang="en-US" sz="1600" dirty="0"/>
              <a:t>("</a:t>
            </a:r>
            <a:r>
              <a:rPr lang="en-US" sz="1600" dirty="0" err="1"/>
              <a:t>jsonMoviePort</a:t>
            </a:r>
            <a:r>
              <a:rPr lang="en-US" sz="1600" dirty="0"/>
              <a:t>") private </a:t>
            </a:r>
            <a:r>
              <a:rPr lang="en-US" sz="1600" dirty="0" err="1"/>
              <a:t>MoviePort</a:t>
            </a:r>
            <a:r>
              <a:rPr lang="en-US" sz="1600" dirty="0"/>
              <a:t> </a:t>
            </a:r>
            <a:r>
              <a:rPr lang="en-US" sz="1600" dirty="0" err="1"/>
              <a:t>jsonAdapter</a:t>
            </a:r>
            <a:r>
              <a:rPr lang="en-US" sz="1600" dirty="0"/>
              <a:t>;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/>
              <a:t>private </a:t>
            </a:r>
            <a:r>
              <a:rPr lang="en-US" sz="1600" dirty="0" err="1"/>
              <a:t>MoviePort</a:t>
            </a:r>
            <a:r>
              <a:rPr lang="en-US" sz="1600" dirty="0"/>
              <a:t> </a:t>
            </a:r>
            <a:r>
              <a:rPr lang="en-US" sz="1600" dirty="0" err="1"/>
              <a:t>currentPort</a:t>
            </a:r>
            <a:r>
              <a:rPr lang="en-US" sz="1600" dirty="0"/>
              <a:t>() {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/>
              <a:t>  return (mode == </a:t>
            </a:r>
            <a:r>
              <a:rPr lang="en-US" sz="1600" dirty="0" err="1"/>
              <a:t>DataMode.JSON</a:t>
            </a:r>
            <a:r>
              <a:rPr lang="en-US" sz="1600" dirty="0"/>
              <a:t>) ? </a:t>
            </a:r>
            <a:r>
              <a:rPr lang="en-US" sz="1600" dirty="0" err="1"/>
              <a:t>jsonAdapter</a:t>
            </a:r>
            <a:r>
              <a:rPr lang="en-US" sz="1600" dirty="0"/>
              <a:t> : </a:t>
            </a:r>
            <a:r>
              <a:rPr lang="en-US" sz="1600" dirty="0" err="1"/>
              <a:t>dbAdapter</a:t>
            </a:r>
            <a:r>
              <a:rPr lang="en-US" sz="1600" dirty="0"/>
              <a:t>;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/>
              <a:t>}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433762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22895"/>
          </a:xfrm>
        </p:spPr>
        <p:txBody>
          <a:bodyPr>
            <a:normAutofit/>
          </a:bodyPr>
          <a:lstStyle/>
          <a:p>
            <a:r>
              <a:rPr lang="ru-RU" b="1" dirty="0"/>
              <a:t>Пользовательский </a:t>
            </a:r>
            <a:r>
              <a:rPr lang="ru-RU" b="1" dirty="0" smtClean="0"/>
              <a:t>интерфейс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13360" y="1088797"/>
            <a:ext cx="43586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0" dirty="0" smtClean="0">
                <a:solidFill>
                  <a:srgbClr val="667EEA"/>
                </a:solidFill>
                <a:effectLst/>
                <a:latin typeface="Times New Roman" panose="02020603050405020304" pitchFamily="18" charset="0"/>
              </a:rPr>
              <a:t>📄 </a:t>
            </a:r>
            <a:r>
              <a:rPr lang="en-US" b="1" i="0" dirty="0" err="1" smtClean="0">
                <a:solidFill>
                  <a:srgbClr val="667EEA"/>
                </a:solidFill>
                <a:effectLst/>
                <a:latin typeface="Times New Roman" panose="02020603050405020304" pitchFamily="18" charset="0"/>
              </a:rPr>
              <a:t>Thymeleaf</a:t>
            </a:r>
            <a:r>
              <a:rPr lang="en-US" b="1" i="0" dirty="0" smtClean="0">
                <a:solidFill>
                  <a:srgbClr val="667EEA"/>
                </a:solidFill>
                <a:effectLst/>
                <a:latin typeface="Times New Roman" panose="02020603050405020304" pitchFamily="18" charset="0"/>
              </a:rPr>
              <a:t>-</a:t>
            </a:r>
            <a:r>
              <a:rPr lang="ru-RU" b="1" i="0" dirty="0" smtClean="0">
                <a:solidFill>
                  <a:srgbClr val="667EEA"/>
                </a:solidFill>
                <a:effectLst/>
                <a:latin typeface="Times New Roman" panose="02020603050405020304" pitchFamily="18" charset="0"/>
              </a:rPr>
              <a:t>шаблоны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index.html - 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главная с рекомендацией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/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movies/list.html - 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список фильмов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/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player/movie-player.html - HTML5-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плеер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/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admin/form.html - 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админ-панель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/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auth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/login.html - 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авторизация</a:t>
            </a:r>
            <a:endParaRPr lang="ru-RU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775960" y="1088797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/>
              <a:t>🎨 CSS-дизайн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CSS </a:t>
            </a:r>
            <a:r>
              <a:rPr lang="ru-RU" dirty="0" err="1"/>
              <a:t>Grid</a:t>
            </a:r>
            <a:r>
              <a:rPr lang="ru-RU" dirty="0"/>
              <a:t> (адаптивность)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CSS-переменные (:</a:t>
            </a:r>
            <a:r>
              <a:rPr lang="ru-RU" dirty="0" err="1"/>
              <a:t>root</a:t>
            </a:r>
            <a:r>
              <a:rPr lang="ru-RU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Приглушённая палитра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Цветовые метки настроения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356360" y="3209025"/>
            <a:ext cx="94792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🎥 HTML5-плеер:</a:t>
            </a:r>
          </a:p>
          <a:p>
            <a:r>
              <a:rPr lang="ru-RU" dirty="0" smtClean="0"/>
              <a:t>&lt;</a:t>
            </a:r>
            <a:r>
              <a:rPr lang="ru-RU" dirty="0" err="1" smtClean="0"/>
              <a:t>video</a:t>
            </a:r>
            <a:r>
              <a:rPr lang="ru-RU" dirty="0" smtClean="0"/>
              <a:t> </a:t>
            </a:r>
            <a:r>
              <a:rPr lang="ru-RU" dirty="0" err="1" smtClean="0"/>
              <a:t>width</a:t>
            </a:r>
            <a:r>
              <a:rPr lang="ru-RU" dirty="0" smtClean="0"/>
              <a:t>="800" </a:t>
            </a:r>
            <a:r>
              <a:rPr lang="ru-RU" dirty="0" err="1" smtClean="0"/>
              <a:t>controls</a:t>
            </a:r>
            <a:r>
              <a:rPr lang="ru-RU" dirty="0" smtClean="0"/>
              <a:t>&gt;</a:t>
            </a:r>
          </a:p>
          <a:p>
            <a:r>
              <a:rPr lang="ru-RU" dirty="0" smtClean="0"/>
              <a:t>  &lt;</a:t>
            </a:r>
            <a:r>
              <a:rPr lang="ru-RU" dirty="0" err="1" smtClean="0"/>
              <a:t>source</a:t>
            </a:r>
            <a:r>
              <a:rPr lang="ru-RU" dirty="0" smtClean="0"/>
              <a:t> </a:t>
            </a:r>
            <a:r>
              <a:rPr lang="ru-RU" dirty="0" err="1" smtClean="0"/>
              <a:t>th:src</a:t>
            </a:r>
            <a:r>
              <a:rPr lang="ru-RU" dirty="0" smtClean="0"/>
              <a:t>="@{'/</a:t>
            </a:r>
            <a:r>
              <a:rPr lang="ru-RU" dirty="0" err="1" smtClean="0"/>
              <a:t>media</a:t>
            </a:r>
            <a:r>
              <a:rPr lang="ru-RU" dirty="0" smtClean="0"/>
              <a:t>/'+${</a:t>
            </a:r>
            <a:r>
              <a:rPr lang="ru-RU" dirty="0" err="1" smtClean="0"/>
              <a:t>movie.filePath</a:t>
            </a:r>
            <a:r>
              <a:rPr lang="ru-RU" dirty="0" smtClean="0"/>
              <a:t>}}" </a:t>
            </a:r>
            <a:r>
              <a:rPr lang="ru-RU" dirty="0" err="1" smtClean="0"/>
              <a:t>type</a:t>
            </a:r>
            <a:r>
              <a:rPr lang="ru-RU" dirty="0" smtClean="0"/>
              <a:t>="</a:t>
            </a:r>
            <a:r>
              <a:rPr lang="ru-RU" dirty="0" err="1" smtClean="0"/>
              <a:t>video</a:t>
            </a:r>
            <a:r>
              <a:rPr lang="ru-RU" dirty="0" smtClean="0"/>
              <a:t>/mp4"&gt;</a:t>
            </a:r>
          </a:p>
          <a:p>
            <a:r>
              <a:rPr lang="ru-RU" dirty="0" smtClean="0"/>
              <a:t>&lt;/</a:t>
            </a:r>
            <a:r>
              <a:rPr lang="ru-RU" dirty="0" err="1" smtClean="0"/>
              <a:t>video</a:t>
            </a:r>
            <a:r>
              <a:rPr lang="ru-RU" dirty="0" smtClean="0"/>
              <a:t>&gt;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691640" y="4775256"/>
            <a:ext cx="8808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🎭 Теги настроения: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Calm, Romantic, Thrilling, Nostalgic, Chaotic, Existential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108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22895"/>
          </a:xfrm>
        </p:spPr>
        <p:txBody>
          <a:bodyPr>
            <a:normAutofit/>
          </a:bodyPr>
          <a:lstStyle/>
          <a:p>
            <a:r>
              <a:rPr lang="ru-RU" b="1" dirty="0" smtClean="0"/>
              <a:t>Тестирование и результаты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11480" y="111793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i="0" dirty="0" smtClean="0">
                <a:solidFill>
                  <a:srgbClr val="155724"/>
                </a:solidFill>
                <a:effectLst/>
                <a:latin typeface="Times New Roman" panose="02020603050405020304" pitchFamily="18" charset="0"/>
              </a:rPr>
              <a:t>Ручное тестирование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20 сценариев проверено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Аутентификация и авторизация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Ролевая модель (HTTP 403)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Переключение DB ↔ JSON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Воспроизведение видео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Навигация по эпизодам</a:t>
            </a:r>
            <a:endParaRPr lang="ru-RU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85560" y="1117937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i="0" dirty="0" smtClean="0">
                <a:solidFill>
                  <a:srgbClr val="0C5460"/>
                </a:solidFill>
                <a:effectLst/>
                <a:latin typeface="Times New Roman" panose="02020603050405020304" pitchFamily="18" charset="0"/>
              </a:rPr>
              <a:t>Автоматизированные тесты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JUnit 5 (Jupiter)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Mockito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5.x -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мокирование</a:t>
            </a:r>
            <a:endParaRPr lang="ru-RU" b="0" i="0" dirty="0" smtClean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AssertJ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- fluent assertions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Spring Boot Test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ReflectionTestUtils</a:t>
            </a:r>
            <a:endParaRPr lang="en-US" b="0" i="0" dirty="0" smtClean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1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Все тесты проходят успешно</a:t>
            </a:r>
            <a:endParaRPr lang="ru-RU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308860" y="3544304"/>
            <a:ext cx="75742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Итоговые результаты:</a:t>
            </a:r>
          </a:p>
          <a:p>
            <a:pPr algn="ctr">
              <a:tabLst>
                <a:tab pos="1524000" algn="l"/>
                <a:tab pos="3946525" algn="l"/>
              </a:tabLst>
            </a:pPr>
            <a:r>
              <a:rPr lang="ru-RU" dirty="0" smtClean="0"/>
              <a:t>8	 16	 2</a:t>
            </a:r>
          </a:p>
          <a:p>
            <a:pPr algn="ctr"/>
            <a:r>
              <a:rPr lang="ru-RU" dirty="0" smtClean="0"/>
              <a:t>Сущностей	 Адаптеров	 Режима хранения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3546712" y="4996934"/>
            <a:ext cx="50985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🌐 Приложение доступно на: http://localhost:8080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4005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672</Words>
  <Application>Microsoft Office PowerPoint</Application>
  <PresentationFormat>Широкоэкранный</PresentationFormat>
  <Paragraphs>158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Тема Office</vt:lpstr>
      <vt:lpstr>Адаптивная платформа медиаконтента с динамической сменой храилища</vt:lpstr>
      <vt:lpstr>Цель и задачи проекта</vt:lpstr>
      <vt:lpstr>Актуальность и ключевое решение</vt:lpstr>
      <vt:lpstr>Сравнительный анализ решений</vt:lpstr>
      <vt:lpstr>Технологический стек</vt:lpstr>
      <vt:lpstr>Многоуровневая архитектура системы</vt:lpstr>
      <vt:lpstr>Информационная модель (8 сущностей)</vt:lpstr>
      <vt:lpstr>Ключевые возможности системы</vt:lpstr>
      <vt:lpstr>Применение паттернов проектирования</vt:lpstr>
      <vt:lpstr>Механизм работы адаптеров</vt:lpstr>
      <vt:lpstr>Пользовательский интерфейс</vt:lpstr>
      <vt:lpstr>Тестирование и результаты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Адаптивная платформа медиаконтента с динамической сменой храилища</dc:title>
  <dc:creator>Owner</dc:creator>
  <cp:lastModifiedBy>Owner</cp:lastModifiedBy>
  <cp:revision>11</cp:revision>
  <dcterms:created xsi:type="dcterms:W3CDTF">2026-06-06T22:26:50Z</dcterms:created>
  <dcterms:modified xsi:type="dcterms:W3CDTF">2026-06-07T00:01:53Z</dcterms:modified>
</cp:coreProperties>
</file>